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0000"/>
    <a:srgbClr val="9BBB59"/>
    <a:srgbClr val="39B0D4"/>
    <a:srgbClr val="727272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E3F3414-2B2B-41CE-9951-2263E2CED39B}" v="44" dt="2026-10-02T17:09:16.0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p200615@outlook.com" userId="93825937b1aeec25" providerId="LiveId" clId="{C779FE50-AF61-4115-88B9-4BDB67DCF02E}"/>
    <pc:docChg chg="undo custSel addSld delSld modSld">
      <pc:chgData name="hp200615@outlook.com" userId="93825937b1aeec25" providerId="LiveId" clId="{C779FE50-AF61-4115-88B9-4BDB67DCF02E}" dt="2026-10-02T17:11:53.281" v="598" actId="47"/>
      <pc:docMkLst>
        <pc:docMk/>
      </pc:docMkLst>
      <pc:sldChg chg="modSp mod">
        <pc:chgData name="hp200615@outlook.com" userId="93825937b1aeec25" providerId="LiveId" clId="{C779FE50-AF61-4115-88B9-4BDB67DCF02E}" dt="2026-10-02T16:00:49.344" v="440" actId="1076"/>
        <pc:sldMkLst>
          <pc:docMk/>
          <pc:sldMk cId="0" sldId="281"/>
        </pc:sldMkLst>
        <pc:spChg chg="mod">
          <ac:chgData name="hp200615@outlook.com" userId="93825937b1aeec25" providerId="LiveId" clId="{C779FE50-AF61-4115-88B9-4BDB67DCF02E}" dt="2026-10-02T11:18:39.269" v="44" actId="14100"/>
          <ac:spMkLst>
            <pc:docMk/>
            <pc:sldMk cId="0" sldId="281"/>
            <ac:spMk id="10" creationId="{5DBCE864-823D-4A13-9607-5DA1F0ED5FB8}"/>
          </ac:spMkLst>
        </pc:spChg>
        <pc:spChg chg="mod">
          <ac:chgData name="hp200615@outlook.com" userId="93825937b1aeec25" providerId="LiveId" clId="{C779FE50-AF61-4115-88B9-4BDB67DCF02E}" dt="2026-10-02T11:18:13.226" v="33" actId="20577"/>
          <ac:spMkLst>
            <pc:docMk/>
            <pc:sldMk cId="0" sldId="281"/>
            <ac:spMk id="15361" creationId="{00000000-0000-0000-0000-000000000000}"/>
          </ac:spMkLst>
        </pc:spChg>
        <pc:spChg chg="mod">
          <ac:chgData name="hp200615@outlook.com" userId="93825937b1aeec25" providerId="LiveId" clId="{C779FE50-AF61-4115-88B9-4BDB67DCF02E}" dt="2026-10-02T16:00:49.344" v="440" actId="1076"/>
          <ac:spMkLst>
            <pc:docMk/>
            <pc:sldMk cId="0" sldId="281"/>
            <ac:spMk id="15362" creationId="{00000000-0000-0000-0000-000000000000}"/>
          </ac:spMkLst>
        </pc:spChg>
      </pc:sldChg>
      <pc:sldChg chg="addSp delSp modSp mod">
        <pc:chgData name="hp200615@outlook.com" userId="93825937b1aeec25" providerId="LiveId" clId="{C779FE50-AF61-4115-88B9-4BDB67DCF02E}" dt="2026-10-02T13:42:53.736" v="353" actId="1440"/>
        <pc:sldMkLst>
          <pc:docMk/>
          <pc:sldMk cId="0" sldId="290"/>
        </pc:sldMkLst>
        <pc:spChg chg="add">
          <ac:chgData name="hp200615@outlook.com" userId="93825937b1aeec25" providerId="LiveId" clId="{C779FE50-AF61-4115-88B9-4BDB67DCF02E}" dt="2026-10-02T11:18:51.500" v="45" actId="22"/>
          <ac:spMkLst>
            <pc:docMk/>
            <pc:sldMk cId="0" sldId="290"/>
            <ac:spMk id="4" creationId="{25C511C1-400B-FA9C-A4B6-885886FD4D8A}"/>
          </ac:spMkLst>
        </pc:spChg>
        <pc:spChg chg="del mod">
          <ac:chgData name="hp200615@outlook.com" userId="93825937b1aeec25" providerId="LiveId" clId="{C779FE50-AF61-4115-88B9-4BDB67DCF02E}" dt="2026-10-02T13:11:07.598" v="223" actId="478"/>
          <ac:spMkLst>
            <pc:docMk/>
            <pc:sldMk cId="0" sldId="290"/>
            <ac:spMk id="7" creationId="{00000000-0000-0000-0000-000000000000}"/>
          </ac:spMkLst>
        </pc:spChg>
        <pc:spChg chg="mod">
          <ac:chgData name="hp200615@outlook.com" userId="93825937b1aeec25" providerId="LiveId" clId="{C779FE50-AF61-4115-88B9-4BDB67DCF02E}" dt="2026-10-02T13:40:22.830" v="351" actId="20577"/>
          <ac:spMkLst>
            <pc:docMk/>
            <pc:sldMk cId="0" sldId="290"/>
            <ac:spMk id="17410" creationId="{00000000-0000-0000-0000-000000000000}"/>
          </ac:spMkLst>
        </pc:spChg>
        <pc:picChg chg="add mod ord modCrop">
          <ac:chgData name="hp200615@outlook.com" userId="93825937b1aeec25" providerId="LiveId" clId="{C779FE50-AF61-4115-88B9-4BDB67DCF02E}" dt="2026-10-02T13:39:33.249" v="328" actId="1440"/>
          <ac:picMkLst>
            <pc:docMk/>
            <pc:sldMk cId="0" sldId="290"/>
            <ac:picMk id="8" creationId="{E1BF1CA7-B401-EF08-DA1C-D3FDFE3B5ADD}"/>
          </ac:picMkLst>
        </pc:picChg>
        <pc:picChg chg="add mod ord">
          <ac:chgData name="hp200615@outlook.com" userId="93825937b1aeec25" providerId="LiveId" clId="{C779FE50-AF61-4115-88B9-4BDB67DCF02E}" dt="2026-10-02T13:42:53.736" v="353" actId="1440"/>
          <ac:picMkLst>
            <pc:docMk/>
            <pc:sldMk cId="0" sldId="290"/>
            <ac:picMk id="10" creationId="{BD9E4D9F-309F-AD1A-EF34-4C2574F28564}"/>
          </ac:picMkLst>
        </pc:picChg>
      </pc:sldChg>
      <pc:sldChg chg="addSp modSp mod">
        <pc:chgData name="hp200615@outlook.com" userId="93825937b1aeec25" providerId="LiveId" clId="{C779FE50-AF61-4115-88B9-4BDB67DCF02E}" dt="2026-10-02T16:03:01.076" v="452" actId="1035"/>
        <pc:sldMkLst>
          <pc:docMk/>
          <pc:sldMk cId="3753387913" sldId="293"/>
        </pc:sldMkLst>
        <pc:spChg chg="add">
          <ac:chgData name="hp200615@outlook.com" userId="93825937b1aeec25" providerId="LiveId" clId="{C779FE50-AF61-4115-88B9-4BDB67DCF02E}" dt="2026-10-02T11:18:57.651" v="46" actId="22"/>
          <ac:spMkLst>
            <pc:docMk/>
            <pc:sldMk cId="3753387913" sldId="293"/>
            <ac:spMk id="4" creationId="{81348016-C924-FEF0-0E86-C6019B038B42}"/>
          </ac:spMkLst>
        </pc:spChg>
        <pc:spChg chg="mod">
          <ac:chgData name="hp200615@outlook.com" userId="93825937b1aeec25" providerId="LiveId" clId="{C779FE50-AF61-4115-88B9-4BDB67DCF02E}" dt="2026-10-02T16:03:01.076" v="452" actId="1035"/>
          <ac:spMkLst>
            <pc:docMk/>
            <pc:sldMk cId="3753387913" sldId="293"/>
            <ac:spMk id="17410" creationId="{00000000-0000-0000-0000-000000000000}"/>
          </ac:spMkLst>
        </pc:spChg>
      </pc:sldChg>
      <pc:sldChg chg="addSp delSp modSp mod">
        <pc:chgData name="hp200615@outlook.com" userId="93825937b1aeec25" providerId="LiveId" clId="{C779FE50-AF61-4115-88B9-4BDB67DCF02E}" dt="2026-10-02T16:02:39.562" v="448" actId="14100"/>
        <pc:sldMkLst>
          <pc:docMk/>
          <pc:sldMk cId="2997144140" sldId="294"/>
        </pc:sldMkLst>
        <pc:spChg chg="add">
          <ac:chgData name="hp200615@outlook.com" userId="93825937b1aeec25" providerId="LiveId" clId="{C779FE50-AF61-4115-88B9-4BDB67DCF02E}" dt="2026-10-02T11:19:02.948" v="47" actId="22"/>
          <ac:spMkLst>
            <pc:docMk/>
            <pc:sldMk cId="2997144140" sldId="294"/>
            <ac:spMk id="4" creationId="{0DE32C8E-CCD8-E75A-5D0F-C69650CF22A3}"/>
          </ac:spMkLst>
        </pc:spChg>
        <pc:spChg chg="del">
          <ac:chgData name="hp200615@outlook.com" userId="93825937b1aeec25" providerId="LiveId" clId="{C779FE50-AF61-4115-88B9-4BDB67DCF02E}" dt="2026-10-02T15:58:57.924" v="430" actId="478"/>
          <ac:spMkLst>
            <pc:docMk/>
            <pc:sldMk cId="2997144140" sldId="294"/>
            <ac:spMk id="7" creationId="{00000000-0000-0000-0000-000000000000}"/>
          </ac:spMkLst>
        </pc:spChg>
        <pc:spChg chg="mod">
          <ac:chgData name="hp200615@outlook.com" userId="93825937b1aeec25" providerId="LiveId" clId="{C779FE50-AF61-4115-88B9-4BDB67DCF02E}" dt="2026-10-02T16:02:39.562" v="448" actId="14100"/>
          <ac:spMkLst>
            <pc:docMk/>
            <pc:sldMk cId="2997144140" sldId="294"/>
            <ac:spMk id="17410" creationId="{00000000-0000-0000-0000-000000000000}"/>
          </ac:spMkLst>
        </pc:spChg>
      </pc:sldChg>
      <pc:sldChg chg="addSp modSp mod">
        <pc:chgData name="hp200615@outlook.com" userId="93825937b1aeec25" providerId="LiveId" clId="{C779FE50-AF61-4115-88B9-4BDB67DCF02E}" dt="2026-10-02T17:08:18.023" v="597" actId="20577"/>
        <pc:sldMkLst>
          <pc:docMk/>
          <pc:sldMk cId="3916788613" sldId="296"/>
        </pc:sldMkLst>
        <pc:spChg chg="add mod">
          <ac:chgData name="hp200615@outlook.com" userId="93825937b1aeec25" providerId="LiveId" clId="{C779FE50-AF61-4115-88B9-4BDB67DCF02E}" dt="2026-10-02T17:06:16.817" v="588" actId="14100"/>
          <ac:spMkLst>
            <pc:docMk/>
            <pc:sldMk cId="3916788613" sldId="296"/>
            <ac:spMk id="4" creationId="{31C511CB-B2B7-7F9D-89AE-D50E4F2E2F9B}"/>
          </ac:spMkLst>
        </pc:spChg>
        <pc:spChg chg="mod">
          <ac:chgData name="hp200615@outlook.com" userId="93825937b1aeec25" providerId="LiveId" clId="{C779FE50-AF61-4115-88B9-4BDB67DCF02E}" dt="2026-10-02T17:05:01.970" v="561" actId="1076"/>
          <ac:spMkLst>
            <pc:docMk/>
            <pc:sldMk cId="3916788613" sldId="296"/>
            <ac:spMk id="17409" creationId="{00000000-0000-0000-0000-000000000000}"/>
          </ac:spMkLst>
        </pc:spChg>
        <pc:spChg chg="mod">
          <ac:chgData name="hp200615@outlook.com" userId="93825937b1aeec25" providerId="LiveId" clId="{C779FE50-AF61-4115-88B9-4BDB67DCF02E}" dt="2026-10-02T17:08:18.023" v="597" actId="20577"/>
          <ac:spMkLst>
            <pc:docMk/>
            <pc:sldMk cId="3916788613" sldId="296"/>
            <ac:spMk id="17410" creationId="{00000000-0000-0000-0000-000000000000}"/>
          </ac:spMkLst>
        </pc:spChg>
      </pc:sldChg>
      <pc:sldChg chg="add del">
        <pc:chgData name="hp200615@outlook.com" userId="93825937b1aeec25" providerId="LiveId" clId="{C779FE50-AF61-4115-88B9-4BDB67DCF02E}" dt="2026-10-02T17:11:53.281" v="598" actId="47"/>
        <pc:sldMkLst>
          <pc:docMk/>
          <pc:sldMk cId="1588084416" sldId="29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10/2/2026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10/2/2026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10/2/2026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10/2/2026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ellowpraful/safetwin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hyperlink" Target="https://drive.google.com/drive/u/0/folders/1XGxJciehxYa9nqYVdGOtwGU-iTIB6Rns?lfhs=2" TargetMode="External"/><Relationship Id="rId4" Type="http://schemas.openxmlformats.org/officeDocument/2006/relationships/hyperlink" Target="https://safetwin.vercel.app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 err="1">
                <a:solidFill>
                  <a:schemeClr val="tx2"/>
                </a:solidFill>
                <a:latin typeface="Garamond" panose="02020404030301010803" pitchFamily="18" charset="0"/>
              </a:rPr>
              <a:t>Indux</a:t>
            </a:r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 5.p HACKATHON 2025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Software/Hardware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2" descr="Industry 5.0 Logo">
            <a:extLst>
              <a:ext uri="{FF2B5EF4-FFF2-40B4-BE49-F238E27FC236}">
                <a16:creationId xmlns:a16="http://schemas.microsoft.com/office/drawing/2014/main" id="{7F0357AC-EA73-E618-4EDE-2424182B4A8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274" b="31555"/>
          <a:stretch>
            <a:fillRect/>
          </a:stretch>
        </p:blipFill>
        <p:spPr bwMode="auto">
          <a:xfrm>
            <a:off x="9460060" y="54268"/>
            <a:ext cx="2276311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 err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SafeTwin</a:t>
            </a: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 AI — </a:t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Dynamic Emergency Digital Twin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609600" y="1267607"/>
            <a:ext cx="12191999" cy="58169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IN" sz="2800" b="1" dirty="0">
                <a:solidFill>
                  <a:srgbClr val="0070C0"/>
                </a:solidFill>
              </a:rPr>
              <a:t>Detailed explanation of the proposed solution</a:t>
            </a:r>
            <a:endParaRPr lang="en-IN" sz="2400" dirty="0">
              <a:solidFill>
                <a:srgbClr val="0070C0"/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Interactive 2D/3D Digital Twin:</a:t>
            </a:r>
            <a:r>
              <a:rPr lang="en-IN" sz="2000" dirty="0"/>
              <a:t> Converts floorplans into real-time graphs of rooms, corridors, doors, </a:t>
            </a:r>
          </a:p>
          <a:p>
            <a:pPr lvl="0"/>
            <a:r>
              <a:rPr lang="en-IN" sz="2000" dirty="0"/>
              <a:t>      stairwells &amp; exits.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Dynamic Hazard Simulator:</a:t>
            </a:r>
            <a:r>
              <a:rPr lang="en-IN" sz="2000" dirty="0"/>
              <a:t> Models </a:t>
            </a:r>
            <a:r>
              <a:rPr lang="en-IN" sz="2000" b="1" dirty="0"/>
              <a:t>Fire, Toxic Gas &amp; Flood</a:t>
            </a:r>
            <a:r>
              <a:rPr lang="en-IN" sz="2000" dirty="0"/>
              <a:t> with real-time occupant evacuation.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AI Optimization Engine:</a:t>
            </a:r>
            <a:r>
              <a:rPr lang="en-IN" sz="2000" dirty="0"/>
              <a:t> Compares </a:t>
            </a:r>
            <a:r>
              <a:rPr lang="en-IN" sz="2000" b="1" dirty="0"/>
              <a:t>AI Rerouting, Exit Load-Balancing &amp; Nearest-Exit</a:t>
            </a:r>
            <a:r>
              <a:rPr lang="en-IN" sz="2000" dirty="0"/>
              <a:t> strategies.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Command Dashboard:</a:t>
            </a:r>
            <a:r>
              <a:rPr lang="en-IN" sz="2000" dirty="0"/>
              <a:t> Tracks </a:t>
            </a:r>
            <a:r>
              <a:rPr lang="en-IN" sz="2000" b="1" dirty="0"/>
              <a:t>Clearance Time, Hazard Exposure, Door Queues &amp; Egress Throughput.</a:t>
            </a:r>
            <a:endParaRPr lang="en-IN" sz="2000" dirty="0"/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IN" sz="2800" b="1" dirty="0">
                <a:solidFill>
                  <a:srgbClr val="0070C0"/>
                </a:solidFill>
              </a:rPr>
              <a:t>How it addresses the problem</a:t>
            </a:r>
            <a:endParaRPr lang="en-IN" sz="2800" dirty="0">
              <a:solidFill>
                <a:srgbClr val="0070C0"/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Dynamic Evacuation:</a:t>
            </a:r>
            <a:r>
              <a:rPr lang="en-IN" sz="2000" dirty="0"/>
              <a:t> Redistributes crowds away from hazards, reducing choke points &amp; stampede risk.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Proactive Rehearsal:</a:t>
            </a:r>
            <a:r>
              <a:rPr lang="en-IN" sz="2000" dirty="0"/>
              <a:t> Simulates </a:t>
            </a:r>
            <a:r>
              <a:rPr lang="en-IN" sz="2000" b="1" dirty="0"/>
              <a:t>8+ failure scenarios</a:t>
            </a:r>
            <a:r>
              <a:rPr lang="en-IN" sz="2000" dirty="0"/>
              <a:t> including blocked stairs, rapid fire &amp; power outages.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Explainable Decisions:</a:t>
            </a:r>
            <a:r>
              <a:rPr lang="en-IN" sz="2000" dirty="0"/>
              <a:t> Uses transparent </a:t>
            </a:r>
            <a:r>
              <a:rPr lang="en-IN" sz="2000" b="1" dirty="0"/>
              <a:t>safety scoring J(p)</a:t>
            </a:r>
            <a:r>
              <a:rPr lang="en-IN" sz="2000" dirty="0"/>
              <a:t> instead of black-box AI.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IN" sz="2800" b="1" dirty="0">
                <a:solidFill>
                  <a:srgbClr val="0070C0"/>
                </a:solidFill>
              </a:rPr>
              <a:t>Innovation and uniqueness</a:t>
            </a:r>
            <a:endParaRPr lang="en-IN" sz="2800" dirty="0">
              <a:solidFill>
                <a:srgbClr val="0070C0"/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Physics-Aware Optimization:</a:t>
            </a:r>
            <a:r>
              <a:rPr lang="en-IN" sz="2000" dirty="0"/>
              <a:t> Minimizes evacuation time, hazard exposure &amp; congestion together.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Zero-Install Architecture:</a:t>
            </a:r>
            <a:r>
              <a:rPr lang="en-IN" sz="2000" dirty="0"/>
              <a:t> Browser/edge-ready </a:t>
            </a:r>
            <a:r>
              <a:rPr lang="en-IN" sz="2000" b="1" dirty="0"/>
              <a:t>60 FPS</a:t>
            </a:r>
            <a:r>
              <a:rPr lang="en-IN" sz="2000" dirty="0"/>
              <a:t> runtime without costly GPU clusters.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Interactive Sandbox:</a:t>
            </a:r>
            <a:r>
              <a:rPr lang="en-IN" sz="2000" dirty="0"/>
              <a:t> Places hazards anywhere and tests building resilience in </a:t>
            </a:r>
            <a:r>
              <a:rPr lang="en-IN" sz="2000" b="1" dirty="0"/>
              <a:t>&lt;5 seconds</a:t>
            </a:r>
            <a:r>
              <a:rPr lang="en-IN" sz="2000" dirty="0"/>
              <a:t>.</a:t>
            </a:r>
          </a:p>
          <a:p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algn="just"/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28323" y="104818"/>
            <a:ext cx="1654758" cy="110219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VISTARAZ</a:t>
            </a:r>
            <a:endParaRPr lang="en-IN" dirty="0"/>
          </a:p>
        </p:txBody>
      </p:sp>
      <p:pic>
        <p:nvPicPr>
          <p:cNvPr id="2" name="Picture 2" descr="Industry 5.0 Logo">
            <a:extLst>
              <a:ext uri="{FF2B5EF4-FFF2-40B4-BE49-F238E27FC236}">
                <a16:creationId xmlns:a16="http://schemas.microsoft.com/office/drawing/2014/main" id="{7E6FCAB7-3EFE-39E9-28C5-C0CB96D04FE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274" b="31555"/>
          <a:stretch>
            <a:fillRect/>
          </a:stretch>
        </p:blipFill>
        <p:spPr bwMode="auto">
          <a:xfrm>
            <a:off x="9460060" y="54268"/>
            <a:ext cx="2276311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D9E4D9F-309F-AD1A-EF34-4C2574F285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6224" y="4323061"/>
            <a:ext cx="4767672" cy="2347308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1BF1CA7-B401-EF08-DA1C-D3FDFE3B5AD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5451" b="1991"/>
          <a:stretch>
            <a:fillRect/>
          </a:stretch>
        </p:blipFill>
        <p:spPr>
          <a:xfrm>
            <a:off x="8270240" y="1095375"/>
            <a:ext cx="2966720" cy="296862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329773" y="1354436"/>
            <a:ext cx="7660640" cy="55707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v"/>
            </a:pPr>
            <a:r>
              <a:rPr lang="en-US" sz="28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Technologies to be used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Frontend &amp; Visualization:</a:t>
            </a:r>
            <a:r>
              <a:rPr lang="en-IN" sz="2000" dirty="0"/>
              <a:t> ES6+ JavaScript, HTML5 Canvas/SVG, CSS3.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Simulation &amp; Algorithms:</a:t>
            </a:r>
            <a:r>
              <a:rPr lang="en-IN" sz="2000" dirty="0"/>
              <a:t> A*, Modified Dijkstra, Social Force/Velocity Models, Cellular Automata.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Data &amp; State:</a:t>
            </a:r>
            <a:r>
              <a:rPr lang="en-IN" sz="2000" dirty="0"/>
              <a:t> JSON Graph Schemas, Session State, Modular Router (pages/).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Hardware &amp; IoT — Phase 2:</a:t>
            </a:r>
            <a:r>
              <a:rPr lang="en-IN" sz="2000" dirty="0"/>
              <a:t> MQ-2/Thermal Sensors, MQTT/WebSocket Telemetry, Privacy-Safe Occupancy Counters.</a:t>
            </a:r>
          </a:p>
          <a:p>
            <a:pPr algn="just"/>
            <a:endParaRPr lang="en-US" sz="2000" dirty="0">
              <a:latin typeface="Arial" pitchFamily="34" charset="0"/>
              <a:cs typeface="Arial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IN" sz="2800" b="1" dirty="0">
                <a:solidFill>
                  <a:srgbClr val="0070C0"/>
                </a:solidFill>
              </a:rPr>
              <a:t>Working Prototype Status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2-Screen Application:</a:t>
            </a:r>
            <a:r>
              <a:rPr lang="en-IN" sz="2000" dirty="0"/>
              <a:t> Landing Showcase + Live Command Dashboard.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Scenario Library:</a:t>
            </a:r>
            <a:r>
              <a:rPr lang="en-IN" sz="2000" dirty="0"/>
              <a:t> </a:t>
            </a:r>
            <a:r>
              <a:rPr lang="en-IN" sz="2000" b="1" dirty="0"/>
              <a:t>8 presets</a:t>
            </a:r>
            <a:r>
              <a:rPr lang="en-IN" sz="2000" dirty="0"/>
              <a:t> + interactive click-to-deploy </a:t>
            </a:r>
          </a:p>
          <a:p>
            <a:pPr lvl="0"/>
            <a:r>
              <a:rPr lang="en-IN" sz="2000" dirty="0"/>
              <a:t>      hazard engine.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Strategy Optimizer:</a:t>
            </a:r>
            <a:r>
              <a:rPr lang="en-IN" sz="2000" dirty="0"/>
              <a:t> Live comparative metrics with </a:t>
            </a:r>
          </a:p>
          <a:p>
            <a:pPr lvl="0"/>
            <a:r>
              <a:rPr lang="en-IN" sz="2000" b="1" dirty="0"/>
              <a:t>      1×/ 2×/ 4× replay</a:t>
            </a:r>
            <a:r>
              <a:rPr lang="en-IN" sz="2000" dirty="0"/>
              <a:t> &amp; step inspection.</a:t>
            </a:r>
          </a:p>
          <a:p>
            <a:pPr algn="just"/>
            <a:r>
              <a:rPr lang="en-US" sz="2000" dirty="0">
                <a:latin typeface="Arial" pitchFamily="34" charset="0"/>
                <a:cs typeface="Arial" pitchFamily="34" charset="0"/>
              </a:rPr>
              <a:t>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2" name="Picture 2" descr="Industry 5.0 Logo">
            <a:extLst>
              <a:ext uri="{FF2B5EF4-FFF2-40B4-BE49-F238E27FC236}">
                <a16:creationId xmlns:a16="http://schemas.microsoft.com/office/drawing/2014/main" id="{15461E91-5A4F-9332-2CE6-23408E7D157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274" b="31555"/>
          <a:stretch>
            <a:fillRect/>
          </a:stretch>
        </p:blipFill>
        <p:spPr bwMode="auto">
          <a:xfrm>
            <a:off x="9460060" y="54268"/>
            <a:ext cx="2276311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Oval 3" descr="Your startup LOGO">
            <a:extLst>
              <a:ext uri="{FF2B5EF4-FFF2-40B4-BE49-F238E27FC236}">
                <a16:creationId xmlns:a16="http://schemas.microsoft.com/office/drawing/2014/main" id="{25C511C1-400B-FA9C-A4B6-885886FD4D8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28323" y="104818"/>
            <a:ext cx="1654758" cy="110219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VISTARAZ</a:t>
            </a:r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1226420"/>
            <a:ext cx="8973312" cy="60016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800" b="1" dirty="0">
                <a:solidFill>
                  <a:srgbClr val="0070C0"/>
                </a:solidFill>
              </a:rPr>
              <a:t>Feasibility of the Idea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Technically Feasible:</a:t>
            </a:r>
            <a:r>
              <a:rPr lang="en-IN" sz="2000" dirty="0"/>
              <a:t> Mature graph/agent </a:t>
            </a:r>
            <a:r>
              <a:rPr lang="en-IN" sz="2000" dirty="0" err="1"/>
              <a:t>modeling</a:t>
            </a:r>
            <a:r>
              <a:rPr lang="en-IN" sz="2000" dirty="0"/>
              <a:t>; client-side and scalable via REST/WebSocket APIs.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Operationally Viable:</a:t>
            </a:r>
            <a:r>
              <a:rPr lang="en-IN" sz="2000" dirty="0"/>
              <a:t> </a:t>
            </a:r>
            <a:r>
              <a:rPr lang="en-IN" sz="2000" b="1" dirty="0"/>
              <a:t>Zero invasive hardware</a:t>
            </a:r>
            <a:r>
              <a:rPr lang="en-IN" sz="2000" dirty="0"/>
              <a:t>; works with existing CAD/BIM floor layouts.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Economically Viable:</a:t>
            </a:r>
            <a:r>
              <a:rPr lang="en-IN" sz="2000" dirty="0"/>
              <a:t> Reduces drill costs, downtime &amp; potential insurance costs through virtual simulation.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800" b="1" dirty="0">
                <a:solidFill>
                  <a:srgbClr val="0070C0"/>
                </a:solidFill>
              </a:rPr>
              <a:t>Potential Challenges &amp; Risks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Data Ingestion:</a:t>
            </a:r>
            <a:r>
              <a:rPr lang="en-IN" sz="2000" dirty="0"/>
              <a:t> Varied CAD formats &amp; unstandardized floor geometry.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Human Behaviour:</a:t>
            </a:r>
            <a:r>
              <a:rPr lang="en-IN" sz="2000" dirty="0"/>
              <a:t> Panic, counter-flow &amp; unpredictable movement.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Sensor Reliability:</a:t>
            </a:r>
            <a:r>
              <a:rPr lang="en-IN" sz="2000" dirty="0"/>
              <a:t> Latency, failures &amp; packet loss during emergencies.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800" b="1" dirty="0">
                <a:solidFill>
                  <a:srgbClr val="0070C0"/>
                </a:solidFill>
              </a:rPr>
              <a:t>Strategies to Overcome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Standardized Spatial Parser:</a:t>
            </a:r>
            <a:r>
              <a:rPr lang="en-IN" sz="2000" dirty="0"/>
              <a:t> GeoJSON + IFC/BIM conversion support.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Stochastic Agent Modelling:</a:t>
            </a:r>
            <a:r>
              <a:rPr lang="en-IN" sz="2000" dirty="0"/>
              <a:t> Variable speeds </a:t>
            </a:r>
            <a:r>
              <a:rPr lang="en-IN" sz="2000" b="1" dirty="0"/>
              <a:t>(0.8–1.6 m/s)</a:t>
            </a:r>
            <a:r>
              <a:rPr lang="en-IN" sz="2000" dirty="0"/>
              <a:t>, stumbling &amp; group behaviour.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Fail-Safe Architecture:</a:t>
            </a:r>
            <a:r>
              <a:rPr lang="en-IN" sz="2000" dirty="0"/>
              <a:t> Offline routing fallback + clear </a:t>
            </a:r>
            <a:r>
              <a:rPr lang="en-IN" sz="2000" b="1" dirty="0"/>
              <a:t>synthetic/live feed</a:t>
            </a:r>
            <a:r>
              <a:rPr lang="en-IN" sz="2000" dirty="0"/>
              <a:t> labelling.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2" name="Picture 2" descr="Industry 5.0 Logo">
            <a:extLst>
              <a:ext uri="{FF2B5EF4-FFF2-40B4-BE49-F238E27FC236}">
                <a16:creationId xmlns:a16="http://schemas.microsoft.com/office/drawing/2014/main" id="{7AF8EB4F-2477-CE2F-9D2E-FFFA92F8D09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274" b="31555"/>
          <a:stretch>
            <a:fillRect/>
          </a:stretch>
        </p:blipFill>
        <p:spPr bwMode="auto">
          <a:xfrm>
            <a:off x="9460060" y="54268"/>
            <a:ext cx="2276311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Oval 3" descr="Your startup LOGO">
            <a:extLst>
              <a:ext uri="{FF2B5EF4-FFF2-40B4-BE49-F238E27FC236}">
                <a16:creationId xmlns:a16="http://schemas.microsoft.com/office/drawing/2014/main" id="{81348016-C924-FEF0-0E86-C6019B038B4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28323" y="104818"/>
            <a:ext cx="1654758" cy="110219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VISTARAZ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1388651"/>
            <a:ext cx="9256776" cy="56015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marR="0" indent="-457200" algn="l">
              <a:buFont typeface="Wingdings" panose="05000000000000000000" pitchFamily="2" charset="2"/>
              <a:buChar char="v"/>
            </a:pPr>
            <a:r>
              <a:rPr lang="en-IN" sz="2800" b="1" i="0" dirty="0">
                <a:solidFill>
                  <a:srgbClr val="0070C0"/>
                </a:solidFill>
                <a:effectLst/>
                <a:latin typeface="+mj-lt"/>
              </a:rPr>
              <a:t>Impact on Target Audience (Safety &amp; Facility Managers)</a:t>
            </a:r>
            <a:endParaRPr lang="en-IN" sz="2800" b="0" i="0" dirty="0">
              <a:solidFill>
                <a:srgbClr val="0070C0"/>
              </a:solidFill>
              <a:effectLst/>
              <a:latin typeface="+mj-lt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b="1" i="0" dirty="0">
                <a:solidFill>
                  <a:srgbClr val="010000"/>
                </a:solidFill>
                <a:effectLst/>
                <a:latin typeface="+mj-lt"/>
              </a:rPr>
              <a:t>Replaces Static Maps:</a:t>
            </a:r>
            <a:r>
              <a:rPr lang="en-IN" sz="2000" b="0" i="0" dirty="0">
                <a:solidFill>
                  <a:srgbClr val="010000"/>
                </a:solidFill>
                <a:effectLst/>
                <a:latin typeface="+mj-lt"/>
              </a:rPr>
              <a:t> Upgrades paper plans to interactive, dynamic simulations.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b="1" i="0" dirty="0">
                <a:solidFill>
                  <a:srgbClr val="010000"/>
                </a:solidFill>
                <a:effectLst/>
                <a:latin typeface="+mj-lt"/>
              </a:rPr>
              <a:t>Proactive Hazard Testing:</a:t>
            </a:r>
            <a:r>
              <a:rPr lang="en-IN" sz="2000" b="0" i="0" dirty="0">
                <a:solidFill>
                  <a:srgbClr val="010000"/>
                </a:solidFill>
                <a:effectLst/>
                <a:latin typeface="+mj-lt"/>
              </a:rPr>
              <a:t> Stress-tests blocked exits and spreading hazards instantly.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b="1" i="0" dirty="0">
                <a:solidFill>
                  <a:srgbClr val="010000"/>
                </a:solidFill>
                <a:effectLst/>
                <a:latin typeface="+mj-lt"/>
              </a:rPr>
              <a:t>Data-Backed Drills:</a:t>
            </a:r>
            <a:r>
              <a:rPr lang="en-IN" sz="2000" b="0" i="0" dirty="0">
                <a:solidFill>
                  <a:srgbClr val="010000"/>
                </a:solidFill>
                <a:effectLst/>
                <a:latin typeface="+mj-lt"/>
              </a:rPr>
              <a:t> Pinpoints crowd bottlenecks before conducting real-world drills.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IN" sz="2800" b="1" dirty="0">
                <a:solidFill>
                  <a:srgbClr val="0070C0"/>
                </a:solidFill>
              </a:rPr>
              <a:t>Multi-Dimensional Benefits</a:t>
            </a:r>
            <a:endParaRPr lang="en-IN" sz="2800" dirty="0">
              <a:solidFill>
                <a:srgbClr val="0070C0"/>
              </a:solidFill>
            </a:endParaRP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b="1" dirty="0"/>
              <a:t>Social &amp; Safety: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Prevents stampedes by balancing exit loads and eliminating choke points.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Ensures safer, more inclusive egress planning without drill disruption.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b="1" dirty="0"/>
              <a:t>Economic &amp; Operational: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Cuts costly operational downtime needed for physical drill planning.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Provides data-driven reports for audit compliance and safety investments.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b="1" dirty="0"/>
              <a:t> Environmental: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Replaces static printed floorplans with a reusable digital twin.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Reduces resource waste and logistical overhead of frequent live trials.</a:t>
            </a:r>
          </a:p>
          <a:p>
            <a:pPr lvl="0" algn="l"/>
            <a:endParaRPr lang="en-IN" sz="2000" b="0" i="0" dirty="0">
              <a:solidFill>
                <a:srgbClr val="010000"/>
              </a:solidFill>
              <a:effectLst/>
              <a:latin typeface="Segoe WPC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2" name="Picture 2" descr="Industry 5.0 Logo">
            <a:extLst>
              <a:ext uri="{FF2B5EF4-FFF2-40B4-BE49-F238E27FC236}">
                <a16:creationId xmlns:a16="http://schemas.microsoft.com/office/drawing/2014/main" id="{F2E1229E-CACB-1C51-9EBE-C1985F1835A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274" b="31555"/>
          <a:stretch>
            <a:fillRect/>
          </a:stretch>
        </p:blipFill>
        <p:spPr bwMode="auto">
          <a:xfrm>
            <a:off x="9460060" y="54268"/>
            <a:ext cx="2276311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Oval 3" descr="Your startup LOGO">
            <a:extLst>
              <a:ext uri="{FF2B5EF4-FFF2-40B4-BE49-F238E27FC236}">
                <a16:creationId xmlns:a16="http://schemas.microsoft.com/office/drawing/2014/main" id="{0DE32C8E-CCD8-E75A-5D0F-C69650CF22A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28323" y="104818"/>
            <a:ext cx="1654758" cy="110219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VISTARAZ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1304610"/>
            <a:ext cx="11049001" cy="51090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IN" sz="2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Research &amp; Project Links</a:t>
            </a:r>
            <a:endParaRPr lang="en-IN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GitHub Repository: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https://github.com/mellowpraful/safetwin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 Live Prototype (Vercel):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https://safetwin.vercel.app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 Video Pitch / Demo: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  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  <a:hlinkClick r:id="rId5"/>
              </a:rPr>
              <a:t>https://drive.google.com/drive/u/0/folders/1XGxJciehxYa9nqYVdGOtwGU-iTIB6Rns?lfhs=2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IN" sz="2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Research &amp; Technical References</a:t>
            </a:r>
            <a:endParaRPr lang="en-IN" sz="28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 Crowd Dynamics &amp; Evacuation Modelling: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Helbing Social Force Model &amp; Cellular Automata Principles for synthetic crowd flow and bottleneck analysis.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NFPA 101 (Life Safety Code) standards for exit capacities, stairwell widths, and maximum travel distances.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 Graph Theory &amp; Dynamic Pathfinding: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Dijkstra &amp; A* Multi-Objective Heuristics with dynamic penalty weights for hazard proximity and corridor queuing.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 Digital Twin &amp; EHS Safety Frameworks: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ISO 22301 / NIST Building Safety Guidelines for emergency rehearsal, incident preparedness, and drill validation.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2" name="Picture 2" descr="Industry 5.0 Logo">
            <a:extLst>
              <a:ext uri="{FF2B5EF4-FFF2-40B4-BE49-F238E27FC236}">
                <a16:creationId xmlns:a16="http://schemas.microsoft.com/office/drawing/2014/main" id="{7A6DCEF1-48C5-1C43-C220-859E2981AB5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274" b="31555"/>
          <a:stretch>
            <a:fillRect/>
          </a:stretch>
        </p:blipFill>
        <p:spPr bwMode="auto">
          <a:xfrm>
            <a:off x="9460060" y="54268"/>
            <a:ext cx="2276311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Oval 3" descr="Your startup LOGO">
            <a:extLst>
              <a:ext uri="{FF2B5EF4-FFF2-40B4-BE49-F238E27FC236}">
                <a16:creationId xmlns:a16="http://schemas.microsoft.com/office/drawing/2014/main" id="{31C511CB-B2B7-7F9D-89AE-D50E4F2E2F9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28323" y="104817"/>
            <a:ext cx="1627325" cy="1073381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VISTARAZ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7739</TotalTime>
  <Words>800</Words>
  <Application>Microsoft Office PowerPoint</Application>
  <PresentationFormat>Widescreen</PresentationFormat>
  <Paragraphs>103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Segoe WPC</vt:lpstr>
      <vt:lpstr>Times New Roman</vt:lpstr>
      <vt:lpstr>TradeGothic</vt:lpstr>
      <vt:lpstr>Wingdings</vt:lpstr>
      <vt:lpstr>Office Theme</vt:lpstr>
      <vt:lpstr>Indux 5.p HACKATHON 2025</vt:lpstr>
      <vt:lpstr> SafeTwin AI —  Dynamic Emergency Digital Twin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hp200615@outlook.com</cp:lastModifiedBy>
  <cp:revision>149</cp:revision>
  <dcterms:created xsi:type="dcterms:W3CDTF">2013-12-12T18:46:50Z</dcterms:created>
  <dcterms:modified xsi:type="dcterms:W3CDTF">2026-10-02T17:11:54Z</dcterms:modified>
  <cp:category/>
</cp:coreProperties>
</file>